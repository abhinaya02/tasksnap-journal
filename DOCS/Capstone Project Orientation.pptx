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97" r:id="rId3"/>
    <p:sldId id="311" r:id="rId4"/>
    <p:sldId id="301" r:id="rId5"/>
    <p:sldId id="303" r:id="rId6"/>
    <p:sldId id="304" r:id="rId7"/>
    <p:sldId id="306" r:id="rId8"/>
    <p:sldId id="312" r:id="rId9"/>
    <p:sldId id="308" r:id="rId10"/>
    <p:sldId id="313" r:id="rId11"/>
    <p:sldId id="314" r:id="rId12"/>
    <p:sldId id="30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DD6AA-B1C8-4C27-B721-CC36D2602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744DC1-B429-4B76-A44D-DF526314F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A8DBC-E054-4C04-8BFE-ED387C22E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E9C3-84A3-43ED-87E3-48321A8EF38B}" type="datetimeFigureOut">
              <a:rPr lang="en-IN" smtClean="0"/>
              <a:pPr/>
              <a:t>01-08-2025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18A6A-7A80-4868-84AD-5D711A2D5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608A1-C8A1-4EB5-95DC-7EFD960CD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BDEF-4BA0-46FA-851A-5095D7A3E80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84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C7BAB-573B-40EF-AC9F-32EC59E50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E618E-E878-4705-A272-E895C5927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3ABE2-4792-414D-8639-A26CB219E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E9C3-84A3-43ED-87E3-48321A8EF38B}" type="datetimeFigureOut">
              <a:rPr lang="en-IN" smtClean="0"/>
              <a:pPr/>
              <a:t>01-08-2025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A7E4E-4878-4352-9E9E-815322EB3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D76CD-1D43-4F21-A80C-A8A53C096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BDEF-4BA0-46FA-851A-5095D7A3E80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447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A0BDA-2784-4403-B3EE-4A93F20A5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33BF9-BD31-44D5-AFFD-B9FF32BB2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89A9B-ED69-46EC-AAB0-A29CC6C2E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E9C3-84A3-43ED-87E3-48321A8EF38B}" type="datetimeFigureOut">
              <a:rPr lang="en-IN" smtClean="0"/>
              <a:pPr/>
              <a:t>01-08-2025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F2FB6-A817-4261-B1EC-C255B7D62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22EF2-4680-44E1-8F9C-BDD5DBE41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BDEF-4BA0-46FA-851A-5095D7A3E80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48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7796E-562F-4496-815A-71A107474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93936-75E4-45D3-BC3C-5DC8293426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3CF1E6-384C-44E3-A018-6D646C2EAF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0BDC9-5564-4B95-903F-CDAC564A8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E9C3-84A3-43ED-87E3-48321A8EF38B}" type="datetimeFigureOut">
              <a:rPr lang="en-IN" smtClean="0"/>
              <a:pPr/>
              <a:t>01-08-2025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9E09FC-263C-403D-9598-8E8DD64F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27FF0-B1D2-49A1-9652-552E8AD8C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BDEF-4BA0-46FA-851A-5095D7A3E80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204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61E76-F3C8-4CB3-9BEC-682390D36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93D2D-819B-4D60-80BB-BB255553A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E84B62-AC4A-43C3-A627-188A8624D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D31AA3-E5C3-4E96-8125-7E9A25D25D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3ACA7-17A9-420D-8E93-F328917637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4059EB-66D1-4FA5-8F7F-2941A4520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E9C3-84A3-43ED-87E3-48321A8EF38B}" type="datetimeFigureOut">
              <a:rPr lang="en-IN" smtClean="0"/>
              <a:pPr/>
              <a:t>01-08-2025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84828B-EFDF-46D1-9233-AE8BC7762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FEA045-F56F-46B6-8481-B0FCB6FD0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BDEF-4BA0-46FA-851A-5095D7A3E80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373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987DE-45BB-4ADD-AE6B-CB78CDB94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BCEB31-007E-4722-95DE-CD9F41584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E9C3-84A3-43ED-87E3-48321A8EF38B}" type="datetimeFigureOut">
              <a:rPr lang="en-IN" smtClean="0"/>
              <a:pPr/>
              <a:t>01-08-2025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3D42B-715C-4F9E-B099-481076623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18B50-BEEC-41A0-AA11-0E2576230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BDEF-4BA0-46FA-851A-5095D7A3E80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969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717017-12A6-426F-9795-1E62F8858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E9C3-84A3-43ED-87E3-48321A8EF38B}" type="datetimeFigureOut">
              <a:rPr lang="en-IN" smtClean="0"/>
              <a:pPr/>
              <a:t>01-08-2025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F0D151-1E0A-4F6E-B2F9-8D1C62D3A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C7BA7-A22F-4A14-B56B-E382B2B79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BDEF-4BA0-46FA-851A-5095D7A3E80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467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F8EFA-EAB2-4C04-8443-D58D1CEAA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EEE0E-580C-4163-ABDA-0D1C1CC9F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92E22-BEA9-4E99-95E2-DB98EE5FC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72D8D-9C50-415C-95C8-E9A33594B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E9C3-84A3-43ED-87E3-48321A8EF38B}" type="datetimeFigureOut">
              <a:rPr lang="en-IN" smtClean="0"/>
              <a:pPr/>
              <a:t>01-08-2025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ADF82-D750-4404-939D-259290D2D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382A8F-1FC4-4815-9213-EF5BFB14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BDEF-4BA0-46FA-851A-5095D7A3E80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317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1B99C-9243-42C1-9F67-91BC0264C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62D0A7-1A94-401D-B462-6DCB6D6096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0591EB-12BE-4C5A-A891-94C61D117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3D531-CE12-49EF-AED1-88AE4C2C4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E9C3-84A3-43ED-87E3-48321A8EF38B}" type="datetimeFigureOut">
              <a:rPr lang="en-IN" smtClean="0"/>
              <a:pPr/>
              <a:t>01-08-2025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30CCB8-F17B-4F81-B80B-65FFA6FCA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D5352-A86A-4591-A4AA-F19254A80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BDEF-4BA0-46FA-851A-5095D7A3E80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789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0406B-DD24-4C8A-90B6-85BF021D4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73CDDB-6577-4B57-973F-AB8B1A9E35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958E8-1FC4-48B1-872F-65198671F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E9C3-84A3-43ED-87E3-48321A8EF38B}" type="datetimeFigureOut">
              <a:rPr lang="en-IN" smtClean="0"/>
              <a:pPr/>
              <a:t>01-08-2025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A5658-4508-4F59-BC79-68393B2AF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70C8C-0843-4115-843A-AA133F23A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BDEF-4BA0-46FA-851A-5095D7A3E80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91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85BA46-78A7-4027-A0BA-361D29E146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52B26F-A8B0-4F05-8A85-865E5E220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87C59-DCF5-45C7-9AFA-FFD06308A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E9C3-84A3-43ED-87E3-48321A8EF38B}" type="datetimeFigureOut">
              <a:rPr lang="en-IN" smtClean="0"/>
              <a:pPr/>
              <a:t>01-08-2025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EB2A4-1406-427E-93DA-EDC4DD41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731C7-E32C-494F-A983-7A8AFD6A1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BDEF-4BA0-46FA-851A-5095D7A3E80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188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9" name="Picture 8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1600" y="3352800"/>
            <a:ext cx="2743200" cy="1980000"/>
          </a:xfrm>
          <a:prstGeom prst="rect">
            <a:avLst/>
          </a:prstGeom>
        </p:spPr>
      </p:pic>
      <p:grpSp>
        <p:nvGrpSpPr>
          <p:cNvPr id="10" name="Group 9"/>
          <p:cNvGrpSpPr/>
          <p:nvPr userDrawn="1"/>
        </p:nvGrpSpPr>
        <p:grpSpPr>
          <a:xfrm>
            <a:off x="-101600" y="5257800"/>
            <a:ext cx="2946400" cy="68580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3352800" y="5410200"/>
            <a:ext cx="80264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Presenter details comes here</a:t>
            </a:r>
          </a:p>
          <a:p>
            <a:pPr lvl="0"/>
            <a:r>
              <a:rPr lang="en-GB" dirty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52800" y="3810000"/>
            <a:ext cx="80264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288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368800" y="6596390"/>
            <a:ext cx="7823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778517" y="6550672"/>
            <a:ext cx="9413483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1" y="-1"/>
            <a:ext cx="2924257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844800" y="6553201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1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</p:spTree>
    <p:extLst>
      <p:ext uri="{BB962C8B-B14F-4D97-AF65-F5344CB8AC3E}">
        <p14:creationId xmlns:p14="http://schemas.microsoft.com/office/powerpoint/2010/main" val="2764260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24D427-9144-4E4D-AD86-648DE41AE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587803-9DA3-4D8E-8EF7-378B8FF92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8C13C-3C49-4652-822F-DFCB3C66A3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2E9C3-84A3-43ED-87E3-48321A8EF38B}" type="datetimeFigureOut">
              <a:rPr lang="en-IN" smtClean="0"/>
              <a:pPr/>
              <a:t>01-08-2025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F8991-9B34-4549-96EE-CAD8A2A55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BFFD2-E116-42E7-85D2-750D075022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1BDEF-4BA0-46FA-851A-5095D7A3E80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527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03442" y="3601277"/>
            <a:ext cx="879944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itchFamily="18" charset="0"/>
                <a:ea typeface="BatangChe" pitchFamily="49" charset="-127"/>
                <a:cs typeface="Times New Roman" pitchFamily="18" charset="0"/>
              </a:rPr>
              <a:t>BIRLA INSTITUTE OF TECHNOLOGY AND SCIENCE, PILANI</a:t>
            </a:r>
          </a:p>
          <a:p>
            <a:pPr algn="ctr"/>
            <a:r>
              <a:rPr lang="en-US" b="1" u="sng" dirty="0">
                <a:solidFill>
                  <a:schemeClr val="bg1"/>
                </a:solidFill>
                <a:latin typeface="Times New Roman" pitchFamily="18" charset="0"/>
                <a:ea typeface="BatangChe" pitchFamily="49" charset="-127"/>
                <a:cs typeface="Times New Roman" pitchFamily="18" charset="0"/>
              </a:rPr>
              <a:t>Work-Integrated Learning Programs Division</a:t>
            </a:r>
          </a:p>
          <a:p>
            <a:pPr algn="ctr"/>
            <a:endParaRPr lang="en-US" b="1" dirty="0">
              <a:solidFill>
                <a:schemeClr val="bg1"/>
              </a:solidFill>
              <a:latin typeface="Times New Roman" pitchFamily="18" charset="0"/>
              <a:ea typeface="BatangChe" pitchFamily="49" charset="-127"/>
              <a:cs typeface="Times New Roman" pitchFamily="18" charset="0"/>
            </a:endParaRP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itchFamily="18" charset="0"/>
                <a:ea typeface="BatangChe" pitchFamily="49" charset="-127"/>
                <a:cs typeface="Times New Roman" pitchFamily="18" charset="0"/>
              </a:rPr>
              <a:t>			</a:t>
            </a:r>
            <a:r>
              <a:rPr lang="en-US" sz="2800" b="1">
                <a:solidFill>
                  <a:schemeClr val="bg1"/>
                </a:solidFill>
                <a:latin typeface="Times New Roman" pitchFamily="18" charset="0"/>
                <a:ea typeface="BatangChe" pitchFamily="49" charset="-127"/>
                <a:cs typeface="Times New Roman" pitchFamily="18" charset="0"/>
              </a:rPr>
              <a:t>	Capstone Project </a:t>
            </a:r>
            <a:r>
              <a:rPr lang="en-US" sz="2800" b="1" dirty="0">
                <a:solidFill>
                  <a:schemeClr val="bg1"/>
                </a:solidFill>
                <a:latin typeface="Times New Roman" pitchFamily="18" charset="0"/>
                <a:ea typeface="BatangChe" pitchFamily="49" charset="-127"/>
                <a:cs typeface="Times New Roman" pitchFamily="18" charset="0"/>
              </a:rPr>
              <a:t>Orientation </a:t>
            </a:r>
            <a:r>
              <a:rPr lang="en-US" b="1" dirty="0">
                <a:solidFill>
                  <a:schemeClr val="bg1"/>
                </a:solidFill>
                <a:latin typeface="Times New Roman" pitchFamily="18" charset="0"/>
                <a:ea typeface="BatangChe" pitchFamily="49" charset="-127"/>
                <a:cs typeface="Times New Roman" pitchFamily="18" charset="0"/>
              </a:rPr>
              <a:t>									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826514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/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General ideas on Capstone Project</a:t>
            </a:r>
          </a:p>
          <a:p>
            <a:pPr marL="0" indent="0"/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Organization support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Institute support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Grades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Timelines &amp; Final Viva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8983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Real life problems encompassing computing and design problems/requirements obtained from organization jointly mentored by the industry expert and faculty; Presentation of the progress and results in appropriate forms; Periodic review of progress of the project.</a:t>
            </a:r>
            <a:endParaRPr lang="en-IN" dirty="0"/>
          </a:p>
          <a:p>
            <a:endParaRPr lang="en-US" dirty="0"/>
          </a:p>
          <a:p>
            <a:r>
              <a:rPr lang="en-US" dirty="0"/>
              <a:t> </a:t>
            </a:r>
            <a:endParaRPr lang="en-IN" dirty="0"/>
          </a:p>
          <a:p>
            <a:pPr algn="ctr"/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Capstone Project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990616"/>
              </p:ext>
            </p:extLst>
          </p:nvPr>
        </p:nvGraphicFramePr>
        <p:xfrm>
          <a:off x="6789915" y="2844899"/>
          <a:ext cx="3463635" cy="336171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63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00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</a:rPr>
                        <a:t>Project</a:t>
                      </a:r>
                      <a:r>
                        <a:rPr lang="en-IN" sz="1600" b="1" baseline="0" dirty="0">
                          <a:solidFill>
                            <a:schemeClr val="tx1"/>
                          </a:solidFill>
                          <a:effectLst/>
                        </a:rPr>
                        <a:t> Areas</a:t>
                      </a:r>
                      <a:endParaRPr lang="en-IN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12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</a:rPr>
                        <a:t>Process Automation / Server Automation/ Task Automation</a:t>
                      </a:r>
                      <a:endParaRPr lang="en-IN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00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</a:rPr>
                        <a:t>Full Stack Development</a:t>
                      </a:r>
                      <a:endParaRPr lang="en-IN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70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</a:rPr>
                        <a:t>Web Development - Frontend</a:t>
                      </a:r>
                      <a:endParaRPr lang="en-IN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41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</a:rPr>
                        <a:t>Data Science/ Data Analytics</a:t>
                      </a:r>
                      <a:endParaRPr lang="en-IN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00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</a:rPr>
                        <a:t>Database Applications</a:t>
                      </a:r>
                      <a:endParaRPr lang="en-IN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00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</a:rPr>
                        <a:t>Application Development</a:t>
                      </a:r>
                      <a:endParaRPr lang="en-IN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00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</a:rPr>
                        <a:t>Software Testing </a:t>
                      </a:r>
                      <a:endParaRPr lang="en-IN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00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</a:rPr>
                        <a:t>Mobile Application </a:t>
                      </a:r>
                      <a:endParaRPr lang="en-IN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86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</a:rPr>
                        <a:t>Mobile Operated Device / </a:t>
                      </a:r>
                      <a:r>
                        <a:rPr lang="en-IN" sz="1600" b="1" dirty="0" err="1">
                          <a:solidFill>
                            <a:schemeClr val="tx1"/>
                          </a:solidFill>
                          <a:effectLst/>
                        </a:rPr>
                        <a:t>IoT</a:t>
                      </a:r>
                      <a:endParaRPr lang="en-IN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100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effectLst/>
                        </a:rPr>
                        <a:t>Cybersecurity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7906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Identification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1600" y="1427168"/>
            <a:ext cx="1157356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Non-trivial, analytical and application-oriented.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Preferably select an area of work that is considered vital to your employer. 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Should reduce cost (or) improve productivity (or) find new solutions to problems.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Based on the courses studied in all previous semesters.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Worthy enough for doing 16 weeks.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+mj-lt"/>
              </a:rPr>
              <a:t>Report should be based on  original contribution of the students in the proper format.</a:t>
            </a:r>
            <a:endParaRPr lang="en-US" sz="2400" dirty="0">
              <a:latin typeface="+mj-lt"/>
            </a:endParaRP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Plagiarized work will be summarily rejected and the will be awarded RRA.</a:t>
            </a:r>
            <a:endParaRPr lang="en-IN" sz="2400" b="1" dirty="0">
              <a:solidFill>
                <a:srgbClr val="FF0000"/>
              </a:solidFill>
              <a:latin typeface="+mj-lt"/>
            </a:endParaRPr>
          </a:p>
          <a:p>
            <a:pPr lvl="1" algn="just">
              <a:lnSpc>
                <a:spcPct val="150000"/>
              </a:lnSpc>
            </a:pPr>
            <a:endParaRPr lang="en-US" sz="2400" dirty="0">
              <a:solidFill>
                <a:srgbClr val="FF0000"/>
              </a:solidFill>
              <a:latin typeface="+mj-lt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33151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06400" y="165652"/>
            <a:ext cx="8432800" cy="1143000"/>
          </a:xfrm>
        </p:spPr>
        <p:txBody>
          <a:bodyPr>
            <a:normAutofit/>
          </a:bodyPr>
          <a:lstStyle/>
          <a:p>
            <a:r>
              <a:rPr lang="en-US" dirty="0"/>
              <a:t>The nature of project should be…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755048-40A2-4886-BE99-3C3E3A9D3295}"/>
              </a:ext>
            </a:extLst>
          </p:cNvPr>
          <p:cNvSpPr txBox="1"/>
          <p:nvPr/>
        </p:nvSpPr>
        <p:spPr>
          <a:xfrm>
            <a:off x="1676399" y="1474305"/>
            <a:ext cx="964095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  your individual effort  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  original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  involve significant research  and/ or development project</a:t>
            </a:r>
          </a:p>
          <a:p>
            <a:r>
              <a:rPr lang="en-US" sz="2400" dirty="0">
                <a:latin typeface="+mj-lt"/>
              </a:rPr>
              <a:t> 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  independently carried out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presentable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4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demonstrable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4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+mj-lt"/>
              </a:rPr>
              <a:t>defendable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481093-3EB0-4D35-9723-802AE753A64D}"/>
              </a:ext>
            </a:extLst>
          </p:cNvPr>
          <p:cNvSpPr/>
          <p:nvPr/>
        </p:nvSpPr>
        <p:spPr>
          <a:xfrm>
            <a:off x="8839200" y="5656230"/>
            <a:ext cx="27863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“Not the regular work as is”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4138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Organization Mentor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685AA8-D8FB-4737-8164-686EFB9A5112}"/>
              </a:ext>
            </a:extLst>
          </p:cNvPr>
          <p:cNvSpPr/>
          <p:nvPr/>
        </p:nvSpPr>
        <p:spPr>
          <a:xfrm>
            <a:off x="406400" y="3688570"/>
            <a:ext cx="1138803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+mj-lt"/>
              </a:rPr>
              <a:t>The student, in consultation with his/her Mentor, identifies the topic of the Capstone Project and prepares the detailed </a:t>
            </a:r>
            <a:r>
              <a:rPr lang="en-US" sz="2000" dirty="0"/>
              <a:t>Capstone</a:t>
            </a:r>
            <a:r>
              <a:rPr lang="en-US" sz="2000" b="1" dirty="0">
                <a:latin typeface="+mj-lt"/>
              </a:rPr>
              <a:t> Project outline.</a:t>
            </a:r>
            <a:r>
              <a:rPr lang="en-US" sz="2000" dirty="0">
                <a:latin typeface="+mj-lt"/>
              </a:rPr>
              <a:t> Organizational member is expected to participate in the reviews.</a:t>
            </a:r>
          </a:p>
          <a:p>
            <a:pPr algn="just"/>
            <a:endParaRPr lang="en-US" sz="2000" b="1" dirty="0"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CBC253-3597-40CE-BEC9-331B1427C2E3}"/>
              </a:ext>
            </a:extLst>
          </p:cNvPr>
          <p:cNvSpPr/>
          <p:nvPr/>
        </p:nvSpPr>
        <p:spPr>
          <a:xfrm>
            <a:off x="406400" y="1522489"/>
            <a:ext cx="1155147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/>
              <a:t>Mentor needs to be the Tech Bee student’s immediate RM, additional examiner- the RM can choose any colleague from HCL who is senior to the Tech Bee student.</a:t>
            </a:r>
          </a:p>
          <a:p>
            <a:endParaRPr lang="en-IN" sz="2000" dirty="0"/>
          </a:p>
          <a:p>
            <a:r>
              <a:rPr lang="en-IN" sz="2000" dirty="0"/>
              <a:t>HCL team will mail all RMs, saying as your Tech Bee hires would have informed, requesting their full support for the educational project work.</a:t>
            </a:r>
          </a:p>
          <a:p>
            <a:pPr algn="just"/>
            <a:endParaRPr lang="en-IN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65722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Grades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A3EE0F-9A00-4B0E-BB18-6B51998A791C}"/>
              </a:ext>
            </a:extLst>
          </p:cNvPr>
          <p:cNvSpPr/>
          <p:nvPr/>
        </p:nvSpPr>
        <p:spPr>
          <a:xfrm>
            <a:off x="940903" y="3195230"/>
            <a:ext cx="997888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  <a:ea typeface="Times New Roman" panose="02020603050405020304" pitchFamily="18" charset="0"/>
              </a:rPr>
              <a:t>The final grades for Capstone Project are Non-Letter grades namely Excellent, Good, Fair and Poor. </a:t>
            </a:r>
          </a:p>
          <a:p>
            <a:pPr marL="285750" indent="-2857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  <a:ea typeface="Times New Roman" panose="02020603050405020304" pitchFamily="18" charset="0"/>
              </a:rPr>
              <a:t>Since no grade point are attached with Non-Letter grades so the Non-Letter grades do not go into CGPA computation.</a:t>
            </a:r>
            <a:endParaRPr lang="en-IN" sz="1400" dirty="0">
              <a:effectLst/>
              <a:latin typeface="+mj-lt"/>
              <a:ea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378EC5-2629-4D91-9026-289086C13719}"/>
              </a:ext>
            </a:extLst>
          </p:cNvPr>
          <p:cNvSpPr/>
          <p:nvPr/>
        </p:nvSpPr>
        <p:spPr>
          <a:xfrm>
            <a:off x="940904" y="4649858"/>
            <a:ext cx="997888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  <a:tabLst>
                <a:tab pos="274320" algn="l"/>
              </a:tabLst>
            </a:pPr>
            <a:r>
              <a:rPr lang="en-US" dirty="0">
                <a:latin typeface="+mj-lt"/>
              </a:rPr>
              <a:t>Under the following conditions, students who appear for their final viva voce may also be reported RRA (Required to Register Again) after evaluation, under the following conditions: </a:t>
            </a:r>
          </a:p>
          <a:p>
            <a:pPr marL="800100" lvl="1" indent="-342900" algn="just">
              <a:buFont typeface="+mj-lt"/>
              <a:buAutoNum type="alphaLcPeriod"/>
              <a:tabLst>
                <a:tab pos="502920" algn="l"/>
              </a:tabLst>
            </a:pPr>
            <a:r>
              <a:rPr lang="en-US" dirty="0">
                <a:latin typeface="+mj-lt"/>
              </a:rPr>
              <a:t>Student is unable to technically present/defend the work done. </a:t>
            </a:r>
            <a:endParaRPr lang="en-IN" dirty="0">
              <a:latin typeface="+mj-lt"/>
            </a:endParaRPr>
          </a:p>
          <a:p>
            <a:pPr marL="800100" lvl="1" indent="-342900" algn="just">
              <a:buFont typeface="+mj-lt"/>
              <a:buAutoNum type="alphaLcPeriod"/>
              <a:tabLst>
                <a:tab pos="502920" algn="l"/>
              </a:tabLst>
            </a:pPr>
            <a:r>
              <a:rPr lang="en-US" dirty="0">
                <a:latin typeface="+mj-lt"/>
              </a:rPr>
              <a:t>Technical knowledge/competence of the student is inadequate. </a:t>
            </a:r>
            <a:endParaRPr lang="en-IN" dirty="0">
              <a:latin typeface="+mj-lt"/>
            </a:endParaRPr>
          </a:p>
          <a:p>
            <a:pPr marL="800100" lvl="1" indent="-342900" algn="just">
              <a:buFont typeface="+mj-lt"/>
              <a:buAutoNum type="alphaLcPeriod"/>
              <a:tabLst>
                <a:tab pos="502920" algn="l"/>
              </a:tabLst>
            </a:pPr>
            <a:r>
              <a:rPr lang="en-US" dirty="0">
                <a:latin typeface="+mj-lt"/>
              </a:rPr>
              <a:t>The work report submitted is inadequate or incomplete. </a:t>
            </a:r>
            <a:endParaRPr lang="en-IN" dirty="0">
              <a:latin typeface="+mj-lt"/>
            </a:endParaRPr>
          </a:p>
          <a:p>
            <a:pPr marL="800100" lvl="1" indent="-342900" algn="just">
              <a:buFont typeface="+mj-lt"/>
              <a:buAutoNum type="alphaLcPeriod"/>
              <a:tabLst>
                <a:tab pos="502920" algn="l"/>
              </a:tabLst>
            </a:pPr>
            <a:r>
              <a:rPr lang="en-US" dirty="0">
                <a:latin typeface="+mj-lt"/>
              </a:rPr>
              <a:t>The work/report is found to be plagiarized. </a:t>
            </a:r>
            <a:endParaRPr lang="en-IN" dirty="0">
              <a:latin typeface="+mj-lt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BB5EA28-3F02-424B-A225-CAAF19426B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731137"/>
              </p:ext>
            </p:extLst>
          </p:nvPr>
        </p:nvGraphicFramePr>
        <p:xfrm>
          <a:off x="2451634" y="1426589"/>
          <a:ext cx="6232664" cy="1501384"/>
        </p:xfrm>
        <a:graphic>
          <a:graphicData uri="http://schemas.openxmlformats.org/drawingml/2006/table">
            <a:tbl>
              <a:tblPr firstRow="1" firstCol="1" bandRow="1" bandCol="1">
                <a:tableStyleId>{5940675A-B579-460E-94D1-54222C63F5DA}</a:tableStyleId>
              </a:tblPr>
              <a:tblGrid>
                <a:gridCol w="944343">
                  <a:extLst>
                    <a:ext uri="{9D8B030D-6E8A-4147-A177-3AD203B41FA5}">
                      <a16:colId xmlns:a16="http://schemas.microsoft.com/office/drawing/2014/main" val="2563705694"/>
                    </a:ext>
                  </a:extLst>
                </a:gridCol>
                <a:gridCol w="3588503">
                  <a:extLst>
                    <a:ext uri="{9D8B030D-6E8A-4147-A177-3AD203B41FA5}">
                      <a16:colId xmlns:a16="http://schemas.microsoft.com/office/drawing/2014/main" val="3522653775"/>
                    </a:ext>
                  </a:extLst>
                </a:gridCol>
                <a:gridCol w="1699818">
                  <a:extLst>
                    <a:ext uri="{9D8B030D-6E8A-4147-A177-3AD203B41FA5}">
                      <a16:colId xmlns:a16="http://schemas.microsoft.com/office/drawing/2014/main" val="3778555867"/>
                    </a:ext>
                  </a:extLst>
                </a:gridCol>
              </a:tblGrid>
              <a:tr h="55933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+mj-lt"/>
                        </a:rPr>
                        <a:t>S. No.</a:t>
                      </a:r>
                      <a:endParaRPr lang="en-IN" sz="2000" b="1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+mj-lt"/>
                        </a:rPr>
                        <a:t>Component</a:t>
                      </a:r>
                      <a:endParaRPr lang="en-IN" sz="2000" b="1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+mj-lt"/>
                        </a:rPr>
                        <a:t>Weight</a:t>
                      </a:r>
                      <a:endParaRPr lang="en-IN" sz="2000" b="1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99152069"/>
                  </a:ext>
                </a:extLst>
              </a:tr>
              <a:tr h="3140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+mj-lt"/>
                        </a:rPr>
                        <a:t>1.</a:t>
                      </a:r>
                      <a:endParaRPr lang="en-IN" sz="2000" b="1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Abstract, Outline Presentation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20%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43829344"/>
                  </a:ext>
                </a:extLst>
              </a:tr>
              <a:tr h="3140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+mj-lt"/>
                        </a:rPr>
                        <a:t>2.</a:t>
                      </a:r>
                      <a:endParaRPr lang="en-IN" sz="2000" b="1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Mid-Semester</a:t>
                      </a:r>
                      <a:r>
                        <a:rPr lang="en-IN" sz="2000" baseline="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 Progress Report</a:t>
                      </a:r>
                      <a:endParaRPr lang="en-IN" sz="20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30%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239352"/>
                  </a:ext>
                </a:extLst>
              </a:tr>
              <a:tr h="3140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+mj-lt"/>
                        </a:rPr>
                        <a:t>3.</a:t>
                      </a:r>
                      <a:endParaRPr lang="en-IN" sz="2000" b="1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Final report ,</a:t>
                      </a:r>
                      <a:r>
                        <a:rPr lang="en-IN" sz="2000" baseline="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 Demo and Viva</a:t>
                      </a:r>
                      <a:endParaRPr lang="en-IN" sz="20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50%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458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7649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Timelines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38B142F-CDB2-4A5B-86A5-BFCC32C711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574651"/>
              </p:ext>
            </p:extLst>
          </p:nvPr>
        </p:nvGraphicFramePr>
        <p:xfrm>
          <a:off x="555812" y="1960644"/>
          <a:ext cx="10515600" cy="3890530"/>
        </p:xfrm>
        <a:graphic>
          <a:graphicData uri="http://schemas.openxmlformats.org/drawingml/2006/table">
            <a:tbl>
              <a:tblPr/>
              <a:tblGrid>
                <a:gridCol w="390879">
                  <a:extLst>
                    <a:ext uri="{9D8B030D-6E8A-4147-A177-3AD203B41FA5}">
                      <a16:colId xmlns:a16="http://schemas.microsoft.com/office/drawing/2014/main" val="2344479307"/>
                    </a:ext>
                  </a:extLst>
                </a:gridCol>
                <a:gridCol w="7779447">
                  <a:extLst>
                    <a:ext uri="{9D8B030D-6E8A-4147-A177-3AD203B41FA5}">
                      <a16:colId xmlns:a16="http://schemas.microsoft.com/office/drawing/2014/main" val="213287065"/>
                    </a:ext>
                  </a:extLst>
                </a:gridCol>
                <a:gridCol w="2345274">
                  <a:extLst>
                    <a:ext uri="{9D8B030D-6E8A-4147-A177-3AD203B41FA5}">
                      <a16:colId xmlns:a16="http://schemas.microsoft.com/office/drawing/2014/main" val="2823311807"/>
                    </a:ext>
                  </a:extLst>
                </a:gridCol>
              </a:tblGrid>
              <a:tr h="4982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S. No</a:t>
                      </a:r>
                    </a:p>
                  </a:txBody>
                  <a:tcPr marL="7150" marR="7150" marT="71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Evaluation Component</a:t>
                      </a:r>
                    </a:p>
                  </a:txBody>
                  <a:tcPr marL="7150" marR="7150" marT="71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Due date</a:t>
                      </a:r>
                    </a:p>
                  </a:txBody>
                  <a:tcPr marL="7150" marR="7150" marT="71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671929"/>
                  </a:ext>
                </a:extLst>
              </a:tr>
              <a:tr h="4982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150" marR="7150" marT="71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 Upload softcopy of Project Outline and Mentor Evaluation Sheet on the Portal by the students</a:t>
                      </a:r>
                    </a:p>
                  </a:txBody>
                  <a:tcPr marL="7150" marR="7150" marT="71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August 4th  , 2025</a:t>
                      </a:r>
                    </a:p>
                  </a:txBody>
                  <a:tcPr marL="7150" marR="7150" marT="71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601709"/>
                  </a:ext>
                </a:extLst>
              </a:tr>
              <a:tr h="55158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150" marR="7150" marT="71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Outline Presentation</a:t>
                      </a:r>
                    </a:p>
                  </a:txBody>
                  <a:tcPr marL="7150" marR="7150" marT="71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August 5</a:t>
                      </a:r>
                      <a:r>
                        <a:rPr lang="en-US" sz="18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, 6</a:t>
                      </a:r>
                      <a:r>
                        <a:rPr lang="en-US" sz="18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, 7</a:t>
                      </a:r>
                      <a:r>
                        <a:rPr lang="en-US" sz="18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and 8</a:t>
                      </a:r>
                      <a:r>
                        <a:rPr lang="en-US" sz="18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2025</a:t>
                      </a:r>
                    </a:p>
                  </a:txBody>
                  <a:tcPr marL="7150" marR="7150" marT="71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062701"/>
                  </a:ext>
                </a:extLst>
              </a:tr>
              <a:tr h="55158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150" marR="7150" marT="71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 Upload Soft Copy of the Mid-Semester progress report and the Mentor’s Mid-Semester Evaluation Sheet</a:t>
                      </a:r>
                    </a:p>
                  </a:txBody>
                  <a:tcPr marL="7150" marR="7150" marT="71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August 25</a:t>
                      </a:r>
                      <a:r>
                        <a:rPr lang="en-IN" sz="18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2025</a:t>
                      </a:r>
                    </a:p>
                  </a:txBody>
                  <a:tcPr marL="7150" marR="7150" marT="71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854545"/>
                  </a:ext>
                </a:extLst>
              </a:tr>
              <a:tr h="55158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150" marR="7150" marT="71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EC2-Midsem Presentation</a:t>
                      </a:r>
                    </a:p>
                  </a:txBody>
                  <a:tcPr marL="7150" marR="7150" marT="71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August 29</a:t>
                      </a:r>
                      <a:r>
                        <a:rPr lang="en-US" sz="18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, 30</a:t>
                      </a:r>
                      <a:r>
                        <a:rPr lang="en-US" sz="18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,31</a:t>
                      </a:r>
                      <a:r>
                        <a:rPr lang="en-US" sz="18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and Sept 1st</a:t>
                      </a:r>
                    </a:p>
                  </a:txBody>
                  <a:tcPr marL="7150" marR="7150" marT="71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716493"/>
                  </a:ext>
                </a:extLst>
              </a:tr>
              <a:tr h="55158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150" marR="7150" marT="71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 Upload a softcopy of Final Project Report, Mentor’s Pre-Final Evaluation Sheet, and Final Presentation (all in PDF format) </a:t>
                      </a:r>
                    </a:p>
                  </a:txBody>
                  <a:tcPr marL="7150" marR="7150" marT="71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IN" sz="180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</a:t>
                      </a: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October , 2025</a:t>
                      </a:r>
                    </a:p>
                  </a:txBody>
                  <a:tcPr marL="7150" marR="7150" marT="71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78956"/>
                  </a:ext>
                </a:extLst>
              </a:tr>
              <a:tr h="55158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150" marR="7150" marT="71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Final Presentation and Viva*</a:t>
                      </a:r>
                    </a:p>
                  </a:txBody>
                  <a:tcPr marL="7150" marR="7150" marT="71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October 10</a:t>
                      </a:r>
                      <a:r>
                        <a:rPr lang="en-US" sz="18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, 11</a:t>
                      </a:r>
                      <a:r>
                        <a:rPr lang="en-US" sz="18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, 12</a:t>
                      </a:r>
                      <a:r>
                        <a:rPr lang="en-US" sz="18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and 13</a:t>
                      </a:r>
                      <a:r>
                        <a:rPr lang="en-US" sz="18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7150" marR="7150" marT="71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782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725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AFD82D-89AA-426D-BE8A-072216643DB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Final Viva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A10195-784D-424F-ACBB-341EDE3C5058}"/>
              </a:ext>
            </a:extLst>
          </p:cNvPr>
          <p:cNvSpPr/>
          <p:nvPr/>
        </p:nvSpPr>
        <p:spPr>
          <a:xfrm>
            <a:off x="406400" y="1596509"/>
            <a:ext cx="10863580" cy="5109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274320" algn="l"/>
              </a:tabLst>
            </a:pPr>
            <a:r>
              <a:rPr lang="en-US" sz="2000" dirty="0">
                <a:latin typeface="+mj-lt"/>
              </a:rPr>
              <a:t>The student should submit the Final Capstone </a:t>
            </a:r>
            <a:r>
              <a:rPr lang="en-US" sz="2000" dirty="0"/>
              <a:t>Project</a:t>
            </a:r>
            <a:r>
              <a:rPr lang="en-US" sz="2000" dirty="0">
                <a:latin typeface="+mj-lt"/>
              </a:rPr>
              <a:t> Report (pdf format) to the Mentor and Additional Examiner. The Mentor should evaluate the final report and conduct the pre-final seminar and viva-voce for the student, along with the additional examiner. The Mentor and the Additional Examiner should jointly complete the pre-final evaluation sheet and recommend the pre-final grade for the </a:t>
            </a:r>
            <a:r>
              <a:rPr lang="en-US" sz="2000" dirty="0"/>
              <a:t>Capstone Project.</a:t>
            </a:r>
            <a:r>
              <a:rPr lang="en-US" sz="2000" dirty="0">
                <a:latin typeface="+mj-lt"/>
              </a:rPr>
              <a:t> </a:t>
            </a:r>
          </a:p>
          <a:p>
            <a:pPr marL="342900" lvl="0" indent="-342900" algn="just"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274320" algn="l"/>
              </a:tabLst>
            </a:pPr>
            <a:endParaRPr lang="en-US" sz="2000" dirty="0">
              <a:latin typeface="+mj-lt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</a:rPr>
              <a:t>In addition to the pre-final evaluation done by the Mentor and Additional Examiner, the student must be prepared to appear for an online Viva and defend the </a:t>
            </a:r>
            <a:r>
              <a:rPr lang="en-US" sz="2000" dirty="0"/>
              <a:t>Capstone Project </a:t>
            </a:r>
            <a:r>
              <a:rPr lang="en-US" sz="2000" dirty="0">
                <a:latin typeface="+mj-lt"/>
              </a:rPr>
              <a:t>before an external panel of independent examiners. The final grade in </a:t>
            </a:r>
            <a:r>
              <a:rPr lang="en-US" sz="2000" dirty="0"/>
              <a:t>Capstone</a:t>
            </a:r>
            <a:r>
              <a:rPr lang="en-US" sz="2000" dirty="0">
                <a:latin typeface="+mj-lt"/>
              </a:rPr>
              <a:t> Project would be based on the </a:t>
            </a:r>
            <a:r>
              <a:rPr lang="en-US" sz="2000" dirty="0"/>
              <a:t>Mentor</a:t>
            </a:r>
            <a:r>
              <a:rPr lang="en-US" sz="2000" dirty="0">
                <a:latin typeface="+mj-lt"/>
              </a:rPr>
              <a:t>’s evaluation as well as the independent evaluation by BITS Faculty. </a:t>
            </a:r>
            <a:endParaRPr lang="en-IN" sz="2000" dirty="0">
              <a:latin typeface="+mj-lt"/>
            </a:endParaRPr>
          </a:p>
          <a:p>
            <a:pPr algn="just"/>
            <a:endParaRPr lang="en-IN" sz="2000" dirty="0">
              <a:latin typeface="+mj-lt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</a:rPr>
              <a:t>During the Viva each student will be required to make a technical presentation for about 20 minutes using Microsoft PowerPoint. The presentation will be followed by viva-voce for about 10 minutes. Students doing software development projects must be prepared to demonstrate their software product during their presentation. </a:t>
            </a:r>
            <a:endParaRPr lang="en-IN" sz="2000" dirty="0">
              <a:latin typeface="+mj-lt"/>
            </a:endParaRPr>
          </a:p>
          <a:p>
            <a:pPr marL="457200" lvl="0" indent="-457200" algn="just"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274320" algn="l"/>
              </a:tabLst>
            </a:pPr>
            <a:endParaRPr lang="en-IN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600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AutoNum type="arabicParenR"/>
            </a:pPr>
            <a:r>
              <a:rPr lang="en-US" dirty="0"/>
              <a:t>The outline Report should include the outline evaluation sheet signed by the mentors from the organization</a:t>
            </a:r>
          </a:p>
          <a:p>
            <a:pPr marL="457200" indent="-457200">
              <a:buAutoNum type="arabicParenR"/>
            </a:pPr>
            <a:r>
              <a:rPr lang="en-US" dirty="0"/>
              <a:t>The </a:t>
            </a:r>
            <a:r>
              <a:rPr lang="en-US" dirty="0" err="1"/>
              <a:t>midsem</a:t>
            </a:r>
            <a:r>
              <a:rPr lang="en-US" dirty="0"/>
              <a:t> Report should include the </a:t>
            </a:r>
            <a:r>
              <a:rPr lang="en-US" dirty="0" err="1"/>
              <a:t>midsem</a:t>
            </a:r>
            <a:r>
              <a:rPr lang="en-US" dirty="0"/>
              <a:t> evaluation sheet signed by the mentors from the organization</a:t>
            </a:r>
          </a:p>
          <a:p>
            <a:pPr marL="457200" indent="-457200">
              <a:buAutoNum type="arabicParenR"/>
            </a:pPr>
            <a:r>
              <a:rPr lang="en-US" dirty="0"/>
              <a:t>The Final report should include Abstract Sheet, Certificate from Mentor. </a:t>
            </a:r>
          </a:p>
          <a:p>
            <a:pPr marL="457200" indent="-457200">
              <a:buAutoNum type="arabicParenR"/>
            </a:pPr>
            <a:r>
              <a:rPr lang="en-US" dirty="0"/>
              <a:t>The </a:t>
            </a:r>
            <a:r>
              <a:rPr lang="en-US" dirty="0" err="1"/>
              <a:t>Prefinal</a:t>
            </a:r>
            <a:r>
              <a:rPr lang="en-US" dirty="0"/>
              <a:t> evaluation sheet should be uploaded separately in the portal.</a:t>
            </a:r>
          </a:p>
          <a:p>
            <a:pPr marL="457200" indent="-457200">
              <a:buAutoNum type="arabicParenR"/>
            </a:pPr>
            <a:r>
              <a:rPr lang="en-US" dirty="0"/>
              <a:t>The </a:t>
            </a:r>
            <a:r>
              <a:rPr lang="en-US" dirty="0" err="1"/>
              <a:t>The</a:t>
            </a:r>
            <a:r>
              <a:rPr lang="en-US" dirty="0"/>
              <a:t> plagiarism similarity report from the Plagiarism portal has to be submitted for </a:t>
            </a:r>
            <a:r>
              <a:rPr lang="en-US" dirty="0" err="1"/>
              <a:t>Midsem</a:t>
            </a:r>
            <a:r>
              <a:rPr lang="en-US" dirty="0"/>
              <a:t> and Final Reports</a:t>
            </a:r>
          </a:p>
          <a:p>
            <a:pPr marL="457200" indent="-457200">
              <a:buAutoNum type="arabicParenR"/>
            </a:pPr>
            <a:r>
              <a:rPr lang="en-US" dirty="0"/>
              <a:t>Students who have submitted the reports will only be permitted for the presentations(outline, </a:t>
            </a:r>
            <a:r>
              <a:rPr lang="en-US" dirty="0" err="1"/>
              <a:t>midsem</a:t>
            </a:r>
            <a:r>
              <a:rPr lang="en-US" dirty="0"/>
              <a:t> and final)</a:t>
            </a:r>
          </a:p>
          <a:p>
            <a:pPr marL="457200" indent="-457200">
              <a:buAutoNum type="arabicParenR"/>
            </a:pPr>
            <a:r>
              <a:rPr lang="en-US" b="1" dirty="0"/>
              <a:t>Students who are absent for the presentations will be provided with an RRA.</a:t>
            </a:r>
          </a:p>
          <a:p>
            <a:pPr marL="457200" indent="-457200">
              <a:buAutoNum type="arabicParenR"/>
            </a:pPr>
            <a:endParaRPr lang="en-US" dirty="0"/>
          </a:p>
          <a:p>
            <a:pPr marL="457200" indent="-457200">
              <a:buAutoNum type="arabicParenR"/>
            </a:pP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Important Points</a:t>
            </a:r>
          </a:p>
        </p:txBody>
      </p:sp>
    </p:spTree>
    <p:extLst>
      <p:ext uri="{BB962C8B-B14F-4D97-AF65-F5344CB8AC3E}">
        <p14:creationId xmlns:p14="http://schemas.microsoft.com/office/powerpoint/2010/main" val="320404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arenR"/>
            </a:pPr>
            <a:r>
              <a:rPr lang="en-US" dirty="0"/>
              <a:t>The plagiarism report has to be generated well in advance – only three attempts are allowed per day</a:t>
            </a:r>
          </a:p>
          <a:p>
            <a:pPr marL="457200" indent="-457200">
              <a:buAutoNum type="arabicParenR"/>
            </a:pPr>
            <a:r>
              <a:rPr lang="en-US" dirty="0"/>
              <a:t>Do not delete the class in the </a:t>
            </a:r>
            <a:r>
              <a:rPr lang="en-US" dirty="0" err="1"/>
              <a:t>Turnitin</a:t>
            </a:r>
            <a:r>
              <a:rPr lang="en-US" dirty="0"/>
              <a:t> portal </a:t>
            </a:r>
          </a:p>
          <a:p>
            <a:pPr marL="457200" indent="-457200">
              <a:buAutoNum type="arabicParenR"/>
            </a:pPr>
            <a:r>
              <a:rPr lang="en-US" dirty="0"/>
              <a:t>You cannot submit the </a:t>
            </a:r>
            <a:r>
              <a:rPr lang="en-US" dirty="0" err="1"/>
              <a:t>midsem</a:t>
            </a:r>
            <a:r>
              <a:rPr lang="en-US" dirty="0"/>
              <a:t>/final report without submitting the plagiarism report</a:t>
            </a:r>
          </a:p>
          <a:p>
            <a:pPr marL="457200" indent="-457200">
              <a:buAutoNum type="arabicParenR"/>
            </a:pPr>
            <a:r>
              <a:rPr lang="en-US" b="1" dirty="0"/>
              <a:t>One mentor(Supervisor or Additional examiner ) has to be present for the final presentation</a:t>
            </a:r>
          </a:p>
          <a:p>
            <a:pPr marL="457200" indent="-457200">
              <a:buAutoNum type="arabicParenR"/>
            </a:pPr>
            <a:r>
              <a:rPr lang="en-US" dirty="0"/>
              <a:t>You have to be employed with HCL until the Final project completion, else you will be discontinued from the program.</a:t>
            </a:r>
          </a:p>
          <a:p>
            <a:pPr marL="457200" indent="-457200">
              <a:buAutoNum type="arabicParenR"/>
            </a:pPr>
            <a:endParaRPr lang="en-US" dirty="0"/>
          </a:p>
          <a:p>
            <a:pPr marL="457200" indent="-457200">
              <a:buAutoNum type="arabicParenR"/>
            </a:pPr>
            <a:endParaRPr lang="en-US" dirty="0"/>
          </a:p>
          <a:p>
            <a:pPr marL="457200" indent="-457200">
              <a:buAutoNum type="arabicParenR"/>
            </a:pPr>
            <a:endParaRPr lang="en-US" dirty="0"/>
          </a:p>
          <a:p>
            <a:pPr marL="457200" indent="-457200">
              <a:buAutoNum type="arabicParenR"/>
            </a:pP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Important Points</a:t>
            </a:r>
          </a:p>
        </p:txBody>
      </p:sp>
    </p:spTree>
    <p:extLst>
      <p:ext uri="{BB962C8B-B14F-4D97-AF65-F5344CB8AC3E}">
        <p14:creationId xmlns:p14="http://schemas.microsoft.com/office/powerpoint/2010/main" val="2268658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4E39B9-FFDC-4030-BBD3-7C350A0A7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9078" y="3110947"/>
            <a:ext cx="2334591" cy="636105"/>
          </a:xfrm>
        </p:spPr>
        <p:txBody>
          <a:bodyPr>
            <a:normAutofit fontScale="92500"/>
          </a:bodyPr>
          <a:lstStyle/>
          <a:p>
            <a:r>
              <a:rPr lang="en-IN" b="1" u="sng" dirty="0"/>
              <a:t>ALL THE BEST</a:t>
            </a:r>
          </a:p>
        </p:txBody>
      </p:sp>
    </p:spTree>
    <p:extLst>
      <p:ext uri="{BB962C8B-B14F-4D97-AF65-F5344CB8AC3E}">
        <p14:creationId xmlns:p14="http://schemas.microsoft.com/office/powerpoint/2010/main" val="4087611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561</TotalTime>
  <Words>970</Words>
  <Application>Microsoft Office PowerPoint</Application>
  <PresentationFormat>Widescreen</PresentationFormat>
  <Paragraphs>123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BatangChe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Siddhartha Dhanvantri</dc:creator>
  <cp:lastModifiedBy>BITS</cp:lastModifiedBy>
  <cp:revision>67</cp:revision>
  <dcterms:created xsi:type="dcterms:W3CDTF">2019-01-23T01:38:48Z</dcterms:created>
  <dcterms:modified xsi:type="dcterms:W3CDTF">2025-08-01T05:58:31Z</dcterms:modified>
</cp:coreProperties>
</file>